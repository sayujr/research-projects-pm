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Her week, with Claude in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1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Claude runs the rituals. She writes, runs lab work, meets people — and tells Claude what happened.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1274552" cy="3108960"/>
          </a:xfrm>
          <a:prstGeom prst="rect">
            <a:avLst/>
          </a:prstGeom>
          <a:solidFill>
            <a:srgbClr val="EC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WED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THU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82880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FRI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2402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124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/week-plan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6974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1248" y="27340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— intro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9443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461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8" y="32826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Admin +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33558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6576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41248" y="36941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MCF-7 passage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8130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45m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22402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8152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draft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81528" y="24871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71800" y="278892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081528" y="28254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Dose-response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1528" y="2990087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329184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081528" y="332841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Ravi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1528" y="3447287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71800" y="3749039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081528" y="3785615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prep (Sara)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81528" y="38587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25m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80" y="2240280"/>
            <a:ext cx="1920240" cy="5029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32180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Results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8" y="24871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2.5h · TNF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2788920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321808" y="28254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Organoid media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21808" y="30815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3h · Org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212080" y="338328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321808" y="3419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Lab meeting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21808" y="35387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12080" y="384048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5321808" y="38770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Notes + log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21808" y="395020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20m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52360" y="22402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56208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Methods revise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24414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452360" y="274320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562088" y="27797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Assay prep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62088" y="29443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1.5h · Org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452360" y="324612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7562088" y="32826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1:1 Sara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340156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52360" y="370332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7562088" y="373989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Reagent order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62088" y="38130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15m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692640" y="2240280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9802368" y="227685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Intro polish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02368" y="24414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2h · TNF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92640" y="27432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802368" y="27797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MCF-7 passage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802368" y="28986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45m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692640" y="3200400"/>
            <a:ext cx="1920240" cy="4114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802368" y="32369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/digest + /retro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802368" y="335584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30m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692640" y="3657600"/>
            <a:ext cx="1920240" cy="36576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802368" y="3694176"/>
            <a:ext cx="17007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Plan next week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802368" y="3767328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FFFFFF"/>
                </a:solidFill>
                <a:latin typeface="Calibri"/>
              </a:rPr>
              <a:t>20m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640080" y="5029200"/>
            <a:ext cx="1091153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457200" y="512064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CLAUDE RUNS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MONDAY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/week-plan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Proposes top-5 from upcoming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checkpoints. She edits.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92608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92608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92608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Today's 3 · overdue ·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calendar shape.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6636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6636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6636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Also: detects slipped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checkpoints from Tue.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40664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MORNING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0664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/standup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40664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Drafts Sara's 1:1 agenda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from owes-me list.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46920" y="534924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FRIDAY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646920" y="555955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onsolas"/>
              </a:rPr>
              <a:t>/digest + /retro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646920" y="5833872"/>
            <a:ext cx="2011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Names shipped items.</a:t>
            </a:r>
          </a:p>
          <a:p>
            <a:pPr algn="l">
              <a:lnSpc>
                <a:spcPct val="12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Reflects on what slipped.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97961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719907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Deep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16833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838779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Lab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35705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957651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Light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545775" y="149961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10765231" y="146304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Meeting / ritual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PHILOSOPHY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Six principles behind every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2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She should never wonder "why did Claude do that?" These rules answer it, every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73152" cy="19888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3119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332"/>
                </a:solidFill>
                <a:latin typeface="Calibri"/>
              </a:rPr>
              <a:t>Proactive, not reactive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.0" y="2880360.0"/>
            <a:ext cx="457200.0" cy="0.0"/>
          </a:xfrm>
          <a:prstGeom prst="line">
            <a:avLst/>
          </a:prstGeom>
          <a:ln w="15875">
            <a:solidFill>
              <a:srgbClr val="2D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017520"/>
            <a:ext cx="3119018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3340"/>
                </a:solidFill>
                <a:latin typeface="Calibri"/>
              </a:rPr>
              <a:t>Claude runs /standup automatically each morning. She never has to ask "what should I work on?"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182880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07738" y="1828800"/>
            <a:ext cx="73152" cy="19888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2058" y="2057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058" y="2331720"/>
            <a:ext cx="3119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332"/>
                </a:solidFill>
                <a:latin typeface="Calibri"/>
              </a:rPr>
              <a:t>Decide on her behalf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82058.333333334" y="2880360.0"/>
            <a:ext cx="457200.0" cy="0.0"/>
          </a:xfrm>
          <a:prstGeom prst="line">
            <a:avLst/>
          </a:prstGeom>
          <a:ln w="15875">
            <a:solidFill>
              <a:srgbClr val="2D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82058" y="3017520"/>
            <a:ext cx="3119018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3340"/>
                </a:solidFill>
                <a:latin typeface="Calibri"/>
              </a:rPr>
              <a:t>Priority order is fixed: deadlines → writing → unblock team → perishable lab → experiments → admin.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8276" y="182880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8158276" y="1828800"/>
            <a:ext cx="73152" cy="19888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32596" y="205740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alibr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596" y="2331720"/>
            <a:ext cx="3119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332"/>
                </a:solidFill>
                <a:latin typeface="Calibri"/>
              </a:rPr>
              <a:t>Ritual cadence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32596.666666668" y="2880360.0"/>
            <a:ext cx="457200.0" cy="0.0"/>
          </a:xfrm>
          <a:prstGeom prst="line">
            <a:avLst/>
          </a:prstGeom>
          <a:ln w="15875">
            <a:solidFill>
              <a:srgbClr val="2D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32596" y="3017520"/>
            <a:ext cx="3119018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3340"/>
                </a:solidFill>
                <a:latin typeface="Calibri"/>
              </a:rPr>
              <a:t>Monday plan. Daily standup + checkin. Friday digest + retro. Monthly review. Quarterly OKR retro.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3766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457200" y="4137660"/>
            <a:ext cx="73152" cy="19888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3662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alibr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640580"/>
            <a:ext cx="3119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332"/>
                </a:solidFill>
                <a:latin typeface="Calibri"/>
              </a:rPr>
              <a:t>WIP limit: 3 projects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.0" y="5189220.0"/>
            <a:ext cx="457200.0" cy="0.0"/>
          </a:xfrm>
          <a:prstGeom prst="line">
            <a:avLst/>
          </a:prstGeom>
          <a:ln w="15875">
            <a:solidFill>
              <a:srgbClr val="2D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5326380"/>
            <a:ext cx="3119018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3340"/>
                </a:solidFill>
                <a:latin typeface="Calibri"/>
              </a:rPr>
              <a:t>A fourth active project forces a pause or downgrade. Protects depth against drift.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7738" y="413766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4307738" y="4137660"/>
            <a:ext cx="73152" cy="19888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82058" y="43662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alibri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82058" y="4640580"/>
            <a:ext cx="3119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332"/>
                </a:solidFill>
                <a:latin typeface="Calibri"/>
              </a:rPr>
              <a:t>Writing is sacred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82058.333333334" y="5189220.0"/>
            <a:ext cx="457200.0" cy="0.0"/>
          </a:xfrm>
          <a:prstGeom prst="line">
            <a:avLst/>
          </a:prstGeom>
          <a:ln w="15875">
            <a:solidFill>
              <a:srgbClr val="2D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82058" y="5326380"/>
            <a:ext cx="3119018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3340"/>
                </a:solidFill>
                <a:latin typeface="Calibri"/>
              </a:rPr>
              <a:t>Daily 90-minute Deep block is protected. Claude flags if five days pass with no writing entry.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8276" y="413766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8158276" y="4137660"/>
            <a:ext cx="73152" cy="19888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32596" y="4366260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alibri"/>
              </a:rPr>
              <a:t>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596" y="4640580"/>
            <a:ext cx="311901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A2332"/>
                </a:solidFill>
                <a:latin typeface="Calibri"/>
              </a:rPr>
              <a:t>Goal cascade visible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32596.666666668" y="5189220.0"/>
            <a:ext cx="457200.0" cy="0.0"/>
          </a:xfrm>
          <a:prstGeom prst="line">
            <a:avLst/>
          </a:prstGeom>
          <a:ln w="15875">
            <a:solidFill>
              <a:srgbClr val="2D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32596" y="5326380"/>
            <a:ext cx="3119018" cy="708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B3340"/>
                </a:solidFill>
                <a:latin typeface="Calibri"/>
              </a:rPr>
              <a:t>Every daily task shows its chain — checkpoint, quarterly objective, year goal. No orphan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GOAL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How goals roll together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3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Two branches — OKR for the paper, narrative for the exploratory project. Same cascade. Same daily surface.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87451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6974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QUARTER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377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7150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94560" y="18288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377440" y="19019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1AFAF"/>
                </a:solidFill>
                <a:latin typeface="Calibri"/>
              </a:rPr>
              <a:t>YEAR GOAL · OKR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121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Publish TNF paper (Cell Reports, Oct 2026)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828800"/>
            <a:ext cx="3474720" cy="64008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675120" y="19019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81AFAF"/>
                </a:solidFill>
                <a:latin typeface="Calibri"/>
              </a:rPr>
              <a:t>YEAR GOAL · NARRATIVE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21408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Establish organoid model — 2 cell types, protocol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31920" y="2468880"/>
            <a:ext cx="0" cy="18288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229600" y="2468880"/>
            <a:ext cx="0" cy="18288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94560" y="265176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377440" y="272491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Q2 — Draft 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0175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KR1  Methods drafted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063240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114800" y="3063240"/>
            <a:ext cx="1280160" cy="91440"/>
          </a:xfrm>
          <a:prstGeom prst="rect">
            <a:avLst/>
          </a:prstGeom>
          <a:solidFill>
            <a:srgbClr val="2DA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212080" y="3017520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2DA74A"/>
                </a:solidFill>
                <a:latin typeface="Calibri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209544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KR2  Figures v3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0" y="3255264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4114800" y="3255264"/>
            <a:ext cx="857707" cy="914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212080" y="3209544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F0B429"/>
                </a:solidFill>
                <a:latin typeface="Calibri"/>
              </a:rPr>
              <a:t>67%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340156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KR3  Co-author review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0" y="3447288"/>
            <a:ext cx="1280160" cy="91440"/>
          </a:xfrm>
          <a:prstGeom prst="rect">
            <a:avLst/>
          </a:prstGeom>
          <a:solidFill>
            <a:srgbClr val="DEE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212080" y="340156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2651760"/>
            <a:ext cx="347472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675120" y="27249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2332"/>
                </a:solidFill>
                <a:latin typeface="Calibri"/>
              </a:rPr>
              <a:t>Q2 — Baseline working</a:t>
            </a:r>
          </a:p>
        </p:txBody>
      </p:sp>
      <p:sp>
        <p:nvSpPr>
          <p:cNvPr id="38" name="Oval 37"/>
          <p:cNvSpPr/>
          <p:nvPr/>
        </p:nvSpPr>
        <p:spPr>
          <a:xfrm>
            <a:off x="9564624" y="2770632"/>
            <a:ext cx="164592" cy="164592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303580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Media reliably reproducible. 2nd cell type has recurring contamination — root cause traced to shared incubator. Next: isolate. Status: on track.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931920" y="3611880"/>
            <a:ext cx="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29600" y="3611880"/>
            <a:ext cx="0" cy="914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194560" y="37033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2377440" y="37764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CHECKPOINTS · DoD per checkpoint</a:t>
            </a:r>
          </a:p>
        </p:txBody>
      </p:sp>
      <p:sp>
        <p:nvSpPr>
          <p:cNvPr id="44" name="Oval 43"/>
          <p:cNvSpPr/>
          <p:nvPr/>
        </p:nvSpPr>
        <p:spPr>
          <a:xfrm>
            <a:off x="2423160" y="4023360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06040" y="39959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Methods drafted</a:t>
            </a:r>
          </a:p>
        </p:txBody>
      </p:sp>
      <p:sp>
        <p:nvSpPr>
          <p:cNvPr id="46" name="Oval 45"/>
          <p:cNvSpPr/>
          <p:nvPr/>
        </p:nvSpPr>
        <p:spPr>
          <a:xfrm>
            <a:off x="2423160" y="4178808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06040" y="4151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Results drafted</a:t>
            </a:r>
          </a:p>
        </p:txBody>
      </p:sp>
      <p:sp>
        <p:nvSpPr>
          <p:cNvPr id="48" name="Oval 47"/>
          <p:cNvSpPr/>
          <p:nvPr/>
        </p:nvSpPr>
        <p:spPr>
          <a:xfrm>
            <a:off x="2423160" y="4334256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430682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Figures v3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92240" y="3703320"/>
            <a:ext cx="347472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675120" y="3776472"/>
            <a:ext cx="3108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CHECKPOINTS · DoD per checkpoint</a:t>
            </a:r>
          </a:p>
        </p:txBody>
      </p:sp>
      <p:sp>
        <p:nvSpPr>
          <p:cNvPr id="52" name="Oval 51"/>
          <p:cNvSpPr/>
          <p:nvPr/>
        </p:nvSpPr>
        <p:spPr>
          <a:xfrm>
            <a:off x="6720840" y="4023360"/>
            <a:ext cx="91440" cy="9144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3720" y="3995928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Media protocol v2</a:t>
            </a:r>
          </a:p>
        </p:txBody>
      </p:sp>
      <p:sp>
        <p:nvSpPr>
          <p:cNvPr id="54" name="Oval 53"/>
          <p:cNvSpPr/>
          <p:nvPr/>
        </p:nvSpPr>
        <p:spPr>
          <a:xfrm>
            <a:off x="6720840" y="4178808"/>
            <a:ext cx="91440" cy="9144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3720" y="4151376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Cell type B stable</a:t>
            </a:r>
          </a:p>
        </p:txBody>
      </p:sp>
      <p:sp>
        <p:nvSpPr>
          <p:cNvPr id="56" name="Oval 55"/>
          <p:cNvSpPr/>
          <p:nvPr/>
        </p:nvSpPr>
        <p:spPr>
          <a:xfrm>
            <a:off x="6720840" y="4334256"/>
            <a:ext cx="91440" cy="91440"/>
          </a:xfrm>
          <a:prstGeom prst="ellipse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03720" y="4306824"/>
            <a:ext cx="29260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Doubling time char.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931920" y="4480560"/>
            <a:ext cx="1432864" cy="3200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6827824" y="4480560"/>
            <a:ext cx="1401776" cy="320040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3124504" y="480060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307384" y="4873752"/>
            <a:ext cx="5577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C0D7D7"/>
                </a:solidFill>
                <a:latin typeface="Calibri"/>
              </a:rPr>
              <a:t>WEEKLY TOP-5  ·  max 1–2 per project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0738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1 · Methods revise (TNF)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66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2 · Figure 4 v1 (TNF)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25944" y="5120640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3 · Media protocol v2 (Organoid)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07384" y="5321807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4 · 1:1 Sara (postdoc)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166664" y="5321807"/>
            <a:ext cx="185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5 · R01 Aim 3 data outline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096304" y="5486400"/>
            <a:ext cx="0" cy="164592"/>
          </a:xfrm>
          <a:prstGeom prst="line">
            <a:avLst/>
          </a:prstGeom>
          <a:ln w="15875">
            <a:solidFill>
              <a:srgbClr val="6B728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3581704" y="5650992"/>
            <a:ext cx="5029200" cy="59436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3764584" y="5724144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1AFAF"/>
                </a:solidFill>
                <a:latin typeface="Calibri"/>
              </a:rPr>
              <a:t>TODAY'S 3  ·  slotted into calendar blocks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64584" y="5943600"/>
            <a:ext cx="109728" cy="182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392917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09:00–11:00  Methods revise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19064" y="5943600"/>
            <a:ext cx="109728" cy="1828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48365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14:00–16:00  Media protocol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73544" y="5943600"/>
            <a:ext cx="109728" cy="1828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038136" y="592531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16:15–17:00  1:1 Sara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VISUALISE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Same data, every zoom level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4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Every view is generated from the same markdown. Zoom in on a Gantt bar — and see the exact day block it feeds.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PROJECT GANTT · TNF paper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47672"/>
            <a:ext cx="11274552" cy="2304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1737360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07864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07864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78368.0" y="2286000"/>
            <a:ext cx="0.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78368" y="2057400"/>
            <a:ext cx="327050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548872" y="2286000"/>
            <a:ext cx="0" cy="187452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248869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2433828"/>
            <a:ext cx="1509463" cy="329184"/>
          </a:xfrm>
          <a:prstGeom prst="roundRect">
            <a:avLst>
              <a:gd name="adj" fmla="val 8000"/>
            </a:avLst>
          </a:prstGeom>
          <a:solidFill>
            <a:srgbClr val="9CB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810512" y="2488692"/>
            <a:ext cx="136315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Intro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6823" y="2433828"/>
            <a:ext cx="3234564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319975" y="2488692"/>
            <a:ext cx="30882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71924" y="2433828"/>
            <a:ext cx="4851846" cy="329184"/>
          </a:xfrm>
          <a:prstGeom prst="roundRect">
            <a:avLst>
              <a:gd name="adj" fmla="val 8000"/>
            </a:avLst>
          </a:prstGeom>
          <a:solidFill>
            <a:srgbClr val="5B8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045076" y="2488692"/>
            <a:ext cx="47055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Results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9206" y="2433828"/>
            <a:ext cx="6684766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662358" y="2488692"/>
            <a:ext cx="65384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1135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Lab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2910840.0"/>
            <a:ext cx="11183112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893736" y="3058668"/>
            <a:ext cx="4851846" cy="329184"/>
          </a:xfrm>
          <a:prstGeom prst="roundRect">
            <a:avLst>
              <a:gd name="adj" fmla="val 8000"/>
            </a:avLst>
          </a:prstGeom>
          <a:solidFill>
            <a:srgbClr val="A8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966888" y="3113532"/>
            <a:ext cx="470554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Dose-response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9206" y="3058668"/>
            <a:ext cx="6469128" cy="329184"/>
          </a:xfrm>
          <a:prstGeom prst="roundRect">
            <a:avLst>
              <a:gd name="adj" fmla="val 8000"/>
            </a:avLst>
          </a:prstGeom>
          <a:solidFill>
            <a:srgbClr val="A88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62358" y="3113532"/>
            <a:ext cx="632282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B3340"/>
                </a:solidFill>
                <a:latin typeface="Calibri"/>
              </a:rPr>
              <a:t>Replicate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373837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2920" y="3535680.0"/>
            <a:ext cx="11183112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iamond 35"/>
          <p:cNvSpPr/>
          <p:nvPr/>
        </p:nvSpPr>
        <p:spPr>
          <a:xfrm>
            <a:off x="9766997" y="3683508"/>
            <a:ext cx="329184" cy="329184"/>
          </a:xfrm>
          <a:prstGeom prst="diamond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60189" y="373837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2B3340"/>
                </a:solidFill>
                <a:latin typeface="Calibri"/>
              </a:rPr>
              <a:t>Co-author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48056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PLAN BOARD · week of Apr 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690872"/>
            <a:ext cx="11274552" cy="1618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23444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MON 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0647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TUE 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8500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WED 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0531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THU 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2561" y="4800600"/>
            <a:ext cx="207203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FRI 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0292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09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234440" y="51206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94360" y="52578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234440" y="53492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94360" y="54864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234440" y="55778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94360" y="57150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234440" y="58064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94360" y="59436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234440" y="6035040.0"/>
            <a:ext cx="10360152.0" cy="0.0"/>
          </a:xfrm>
          <a:prstGeom prst="line">
            <a:avLst/>
          </a:prstGeom>
          <a:ln w="6350">
            <a:solidFill>
              <a:srgbClr val="E3E5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234440.0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306470.4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378500.8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50531.199999999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522561.6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1594592.0" y="5029200"/>
            <a:ext cx="0.0" cy="1143000"/>
          </a:xfrm>
          <a:prstGeom prst="line">
            <a:avLst/>
          </a:prstGeom>
          <a:ln w="6350">
            <a:solidFill>
              <a:srgbClr val="DE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1280160" y="502920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1335024" y="507492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80160" y="5600700"/>
            <a:ext cx="1980590" cy="171450"/>
          </a:xfrm>
          <a:prstGeom prst="roundRect">
            <a:avLst>
              <a:gd name="adj" fmla="val 8000"/>
            </a:avLst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1335024" y="5646420"/>
            <a:ext cx="1870862" cy="80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352190" y="502920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407054" y="507492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352190" y="5543550"/>
            <a:ext cx="198059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407054" y="5589270"/>
            <a:ext cx="1870862" cy="1943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Dose-resp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352190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3407054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Ravi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24220" y="5029200"/>
            <a:ext cx="1980590" cy="36576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479084" y="5074920"/>
            <a:ext cx="18708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424220" y="5543550"/>
            <a:ext cx="1980590" cy="34290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479084" y="5589270"/>
            <a:ext cx="1870862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Media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424220" y="5943600"/>
            <a:ext cx="1980590" cy="17145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5479084" y="5989320"/>
            <a:ext cx="1870862" cy="80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Lab mtg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496251" y="5029200"/>
            <a:ext cx="198059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551115" y="5074920"/>
            <a:ext cx="18708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Revise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496251" y="5543550"/>
            <a:ext cx="1980590" cy="25146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551115" y="5589270"/>
            <a:ext cx="1870862" cy="160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Assay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496251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551115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Sara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568281" y="5029200"/>
            <a:ext cx="198059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9623145" y="5074920"/>
            <a:ext cx="187086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Polish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568281" y="56007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9623145" y="56464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Passage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568281" y="5943600"/>
            <a:ext cx="1980590" cy="13716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9623145" y="5989320"/>
            <a:ext cx="1870862" cy="45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/digest</a:t>
            </a:r>
          </a:p>
        </p:txBody>
      </p:sp>
      <p:cxnSp>
        <p:nvCxnSpPr>
          <p:cNvPr id="89" name="Connector 88"/>
          <p:cNvCxnSpPr/>
          <p:nvPr/>
        </p:nvCxnSpPr>
        <p:spPr>
          <a:xfrm flipH="1">
            <a:off x="4342485.6" y="2763012.0"/>
            <a:ext cx="521619.7846153844" cy="2266188.0"/>
          </a:xfrm>
          <a:prstGeom prst="line">
            <a:avLst/>
          </a:prstGeom>
          <a:ln w="19050">
            <a:solidFill>
              <a:srgbClr val="2D7A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4726945" y="3786378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D7A7A"/>
                </a:solidFill>
                <a:latin typeface="Calibri"/>
              </a:rPr>
              <a:t>same markdown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MODIFY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Move anything — see the cascade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5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Drag a bar, or tell Claude — same adjuster runs. Cascade previewed before anything commits.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6B7280"/>
                </a:solidFill>
                <a:latin typeface="Calibri"/>
              </a:rPr>
              <a:t>BEFORE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93392"/>
            <a:ext cx="539496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2" name="Connector 11"/>
          <p:cNvCxnSpPr/>
          <p:nvPr/>
        </p:nvCxnSpPr>
        <p:spPr>
          <a:xfrm>
            <a:off x="1371600.0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57081.290322580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406877.419354839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560201.290322581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09997.419354839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17320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2801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5921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26464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89238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669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444102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06877" y="2706624"/>
            <a:ext cx="1153323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461741" y="2724912"/>
            <a:ext cx="10435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3832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509997" y="3346704"/>
            <a:ext cx="67842" cy="256032"/>
          </a:xfrm>
          <a:prstGeom prst="roundRect">
            <a:avLst>
              <a:gd name="adj" fmla="val 8000"/>
            </a:avLst>
          </a:prstGeom>
          <a:solidFill>
            <a:srgbClr val="F0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39535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AFTER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9535" y="1993392"/>
            <a:ext cx="539496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7253935.0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339416.29032258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289212.4193548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442536.290322581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392332.41935484" y="2514600"/>
            <a:ext cx="0.0" cy="1234440"/>
          </a:xfrm>
          <a:prstGeom prst="line">
            <a:avLst/>
          </a:prstGeom>
          <a:ln w="5080">
            <a:solidFill>
              <a:srgbClr val="E1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299655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APR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136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MAY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88256" y="2286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6B7280"/>
                </a:solidFill>
                <a:latin typeface="Calibri"/>
              </a:rPr>
              <a:t>JUN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53935" y="2706624"/>
            <a:ext cx="1017638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8271573" y="2706624"/>
            <a:ext cx="1017638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9289212" y="2706624"/>
            <a:ext cx="1153323" cy="256032"/>
          </a:xfrm>
          <a:prstGeom prst="rect">
            <a:avLst/>
          </a:prstGeom>
          <a:noFill/>
          <a:ln w="12700">
            <a:solidFill>
              <a:srgbClr val="92B1F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28833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83697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46471" y="2706624"/>
            <a:ext cx="1017638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801335" y="2724912"/>
            <a:ext cx="90791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8135" y="27432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Writing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4110" y="2706624"/>
            <a:ext cx="1153323" cy="256032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9818974" y="2724912"/>
            <a:ext cx="104359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FFFFFF"/>
                </a:solidFill>
                <a:latin typeface="Calibri"/>
              </a:rPr>
              <a:t>Figures v3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68135" y="338328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B3340"/>
                </a:solidFill>
                <a:latin typeface="Calibri"/>
              </a:rPr>
              <a:t>Collab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92332" y="3346704"/>
            <a:ext cx="67842" cy="256032"/>
          </a:xfrm>
          <a:prstGeom prst="roundRect">
            <a:avLst>
              <a:gd name="adj" fmla="val 8000"/>
            </a:avLst>
          </a:prstGeom>
          <a:solidFill>
            <a:srgbClr val="F08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457200" y="4069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EAF1F1"/>
          </a:solidFill>
          <a:ln w="9525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685800" y="4160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DRAG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4389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Grab the Methods bar, drop it a week later on the Gantt or Plan Board.</a:t>
            </a:r>
          </a:p>
        </p:txBody>
      </p:sp>
      <p:sp>
        <p:nvSpPr>
          <p:cNvPr id="58" name="Oval 57"/>
          <p:cNvSpPr/>
          <p:nvPr/>
        </p:nvSpPr>
        <p:spPr>
          <a:xfrm>
            <a:off x="5943600" y="4206240"/>
            <a:ext cx="457200" cy="457200"/>
          </a:xfrm>
          <a:prstGeom prst="ellipse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43600" y="4315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Calibri"/>
              </a:rPr>
              <a:t>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339535" y="4069080"/>
            <a:ext cx="5394960" cy="731520"/>
          </a:xfrm>
          <a:prstGeom prst="roundRect">
            <a:avLst>
              <a:gd name="adj" fmla="val 8000"/>
            </a:avLst>
          </a:prstGeom>
          <a:solidFill>
            <a:srgbClr val="EAF1F1"/>
          </a:solidFill>
          <a:ln w="9525">
            <a:solidFill>
              <a:srgbClr val="2D7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568135" y="41605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SAY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68135" y="43891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2B3340"/>
                </a:solidFill>
                <a:latin typeface="Consolas"/>
              </a:rPr>
              <a:t>“slip TNF methods by a week” in Claude chat.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7200" y="4937760"/>
            <a:ext cx="6858000" cy="960120"/>
          </a:xfrm>
          <a:prstGeom prst="roundRect">
            <a:avLst>
              <a:gd name="adj" fmla="val 8000"/>
            </a:avLst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31520" y="50292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81AFAF"/>
                </a:solidFill>
                <a:latin typeface="Calibri"/>
              </a:rPr>
              <a:t>IMPACT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31520" y="5303520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Q2 Objective</a:t>
            </a:r>
          </a:p>
        </p:txBody>
      </p:sp>
      <p:sp>
        <p:nvSpPr>
          <p:cNvPr id="66" name="Oval 65"/>
          <p:cNvSpPr/>
          <p:nvPr/>
        </p:nvSpPr>
        <p:spPr>
          <a:xfrm>
            <a:off x="2679192" y="5330952"/>
            <a:ext cx="128016" cy="128016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52928" y="5294376"/>
            <a:ext cx="457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68" name="Oval 67"/>
          <p:cNvSpPr/>
          <p:nvPr/>
        </p:nvSpPr>
        <p:spPr>
          <a:xfrm>
            <a:off x="3090672" y="5330952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4720" y="530352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on track → watch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1520" y="550468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Year goal</a:t>
            </a:r>
          </a:p>
        </p:txBody>
      </p:sp>
      <p:sp>
        <p:nvSpPr>
          <p:cNvPr id="71" name="Oval 70"/>
          <p:cNvSpPr/>
          <p:nvPr/>
        </p:nvSpPr>
        <p:spPr>
          <a:xfrm>
            <a:off x="2679192" y="5532120"/>
            <a:ext cx="128016" cy="128016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474720" y="550468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on track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570585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Calibri"/>
              </a:rPr>
              <a:t>Slack on Figures v3</a:t>
            </a:r>
          </a:p>
        </p:txBody>
      </p:sp>
      <p:sp>
        <p:nvSpPr>
          <p:cNvPr id="74" name="Oval 73"/>
          <p:cNvSpPr/>
          <p:nvPr/>
        </p:nvSpPr>
        <p:spPr>
          <a:xfrm>
            <a:off x="2679192" y="5733288"/>
            <a:ext cx="128016" cy="128016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0" y="570585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ABC9C9"/>
                </a:solidFill>
                <a:latin typeface="Calibri"/>
              </a:rPr>
              <a:t>2 days remaining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498080" y="493776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DA7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7635240" y="4991100"/>
            <a:ext cx="182880" cy="182880"/>
          </a:xfrm>
          <a:prstGeom prst="ellipse">
            <a:avLst/>
          </a:prstGeom>
          <a:solidFill>
            <a:srgbClr val="2D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01000" y="497433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Compress downstream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519379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Tighten the next blocks to hit original date.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498080" y="527304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7635240" y="5326380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001000" y="530961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Accept the slip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01000" y="552907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Push Figures v3 deadline; Co-author review stays.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498080" y="5608320"/>
            <a:ext cx="4236415" cy="289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7635240" y="5661660"/>
            <a:ext cx="182880" cy="18288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001000" y="5644896"/>
            <a:ext cx="35963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2332"/>
                </a:solidFill>
                <a:latin typeface="Calibri"/>
              </a:rPr>
              <a:t>Cut scope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01000" y="5864352"/>
            <a:ext cx="3596335" cy="15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Drop 1 figure; stay on original timeline.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4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D7A7A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2332"/>
                </a:solidFill>
                <a:latin typeface="Calibri"/>
              </a:rPr>
              <a:t>Management mechanics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15568"/>
            <a:ext cx="731520" cy="45720"/>
          </a:xfrm>
          <a:prstGeom prst="rect">
            <a:avLst/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6" name="Connector 5"/>
          <p:cNvCxnSpPr/>
          <p:nvPr/>
        </p:nvCxnSpPr>
        <p:spPr>
          <a:xfrm>
            <a:off x="457200" y="6446520"/>
            <a:ext cx="11277295" cy="0"/>
          </a:xfrm>
          <a:prstGeom prst="line">
            <a:avLst/>
          </a:prstGeom>
          <a:ln w="9525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10528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research-pm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695" y="651052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Calibri"/>
              </a:rPr>
              <a:t>6 /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6B7280"/>
                </a:solidFill>
                <a:latin typeface="Calibri"/>
              </a:rPr>
              <a:t>Six engines run quietly in the background so she doesn't have to think about any of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2880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7200" y="1828800"/>
            <a:ext cx="3576218" cy="12801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3119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332"/>
                </a:solidFill>
                <a:latin typeface="Calibri"/>
              </a:rPr>
              <a:t>Calendar-aware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31190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Calibri"/>
              </a:rPr>
              <a:t>Reads Google + Outlook nightly.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.0" y="2926080.0"/>
            <a:ext cx="457200.0" cy="0.0"/>
          </a:xfrm>
          <a:prstGeom prst="line">
            <a:avLst/>
          </a:prstGeom>
          <a:ln w="15875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063240"/>
            <a:ext cx="311901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Tags blocks as Deep / Lab / Light / Social. Writes protected events to her work calendar so colleagues see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7738" y="182880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307738" y="1828800"/>
            <a:ext cx="3576218" cy="128016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582058" y="2148840"/>
            <a:ext cx="3119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332"/>
                </a:solidFill>
                <a:latin typeface="Calibri"/>
              </a:rPr>
              <a:t>Duration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2058" y="2606040"/>
            <a:ext cx="31190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Calibri"/>
              </a:rPr>
              <a:t>Stops asking “how long?”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82058.333333334" y="2926080.0"/>
            <a:ext cx="457200.0" cy="0.0"/>
          </a:xfrm>
          <a:prstGeom prst="line">
            <a:avLst/>
          </a:prstGeom>
          <a:ln w="15875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82058" y="3063240"/>
            <a:ext cx="311901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Median + p90 per task type from history. After 5 samples, Claude auto-confirms blocks from real data.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8276" y="182880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158276" y="1828800"/>
            <a:ext cx="3576218" cy="128016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432596" y="2148840"/>
            <a:ext cx="3119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332"/>
                </a:solidFill>
                <a:latin typeface="Calibri"/>
              </a:rPr>
              <a:t>Delegation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2596" y="2606040"/>
            <a:ext cx="31190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580C"/>
                </a:solidFill>
                <a:latin typeface="Calibri"/>
              </a:rPr>
              <a:t>Owes-me / I-owe per person.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32596.666666668" y="2926080.0"/>
            <a:ext cx="457200.0" cy="0.0"/>
          </a:xfrm>
          <a:prstGeom prst="line">
            <a:avLst/>
          </a:prstGeom>
          <a:ln w="15875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32596" y="3063240"/>
            <a:ext cx="311901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Every commitment logged with a date. 1:1 agendas auto-drafted from recent activity + open blockers.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3766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457200" y="4137660"/>
            <a:ext cx="3576218" cy="128016"/>
          </a:xfrm>
          <a:prstGeom prst="roundRect">
            <a:avLst>
              <a:gd name="adj" fmla="val 8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1520" y="4457700"/>
            <a:ext cx="3119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332"/>
                </a:solidFill>
                <a:latin typeface="Calibri"/>
              </a:rPr>
              <a:t>Anti-burnout signals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14900"/>
            <a:ext cx="31190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0B429"/>
                </a:solidFill>
                <a:latin typeface="Calibri"/>
              </a:rPr>
              <a:t>Four gentle triggers.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31520.0" y="5234940.0"/>
            <a:ext cx="457200.0" cy="0.0"/>
          </a:xfrm>
          <a:prstGeom prst="line">
            <a:avLst/>
          </a:prstGeom>
          <a:ln w="15875">
            <a:solidFill>
              <a:srgbClr val="F0B4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5372100"/>
            <a:ext cx="311901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Three silent days, late-night entries, repeat blockers, outputless meetings. One kind flag — then drops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07738" y="413766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4307738" y="4137660"/>
            <a:ext cx="3576218" cy="128016"/>
          </a:xfrm>
          <a:prstGeom prst="roundRect">
            <a:avLst>
              <a:gd name="adj" fmla="val 8000"/>
            </a:avLst>
          </a:prstGeom>
          <a:solidFill>
            <a:srgbClr val="2D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82058" y="4457700"/>
            <a:ext cx="3119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332"/>
                </a:solidFill>
                <a:latin typeface="Calibri"/>
              </a:rPr>
              <a:t>Collaborator reports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82058" y="4914900"/>
            <a:ext cx="31190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7A7A"/>
                </a:solidFill>
                <a:latin typeface="Calibri"/>
              </a:rPr>
              <a:t>One command, three outputs.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582058.333333334" y="5234940.0"/>
            <a:ext cx="457200.0" cy="0.0"/>
          </a:xfrm>
          <a:prstGeom prst="line">
            <a:avLst/>
          </a:prstGeom>
          <a:ln w="15875">
            <a:solidFill>
              <a:srgbClr val="2D7A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82058" y="5372100"/>
            <a:ext cx="311901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Generates .md / .email.md / .slides.md from real progress logs. Print-to-PDF on the website.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8276" y="4137660"/>
            <a:ext cx="3576218" cy="19888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8158276" y="4137660"/>
            <a:ext cx="3576218" cy="128016"/>
          </a:xfrm>
          <a:prstGeom prst="roundRect">
            <a:avLst>
              <a:gd name="adj" fmla="val 8000"/>
            </a:avLst>
          </a:prstGeom>
          <a:solidFill>
            <a:srgbClr val="2DA7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432596" y="4457700"/>
            <a:ext cx="311901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A2332"/>
                </a:solidFill>
                <a:latin typeface="Calibri"/>
              </a:rPr>
              <a:t>Knowledge 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596" y="4914900"/>
            <a:ext cx="311901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DA74A"/>
                </a:solidFill>
                <a:latin typeface="Calibri"/>
              </a:rPr>
              <a:t>Nothing dies in chat.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432596.666666668" y="5234940.0"/>
            <a:ext cx="457200.0" cy="0.0"/>
          </a:xfrm>
          <a:prstGeom prst="line">
            <a:avLst/>
          </a:prstGeom>
          <a:ln w="15875">
            <a:solidFill>
              <a:srgbClr val="2DA7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432596" y="5372100"/>
            <a:ext cx="3119018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2B3340"/>
                </a:solidFill>
                <a:latin typeface="Calibri"/>
              </a:rPr>
              <a:t>Protocols, failed experiments with root cause, decisions with context — all in markdown, all in git.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