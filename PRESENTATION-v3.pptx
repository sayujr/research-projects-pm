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A week with this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This is a markdown-based project manager that Claude operates. You do the work; Claude handles the planning, logging, and follow-ups. The small tags below are the commands Claude runs — a standup (today's plan), a digest (what shipped), a retrospective (what slipped).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1274552" cy="310896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TUE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THU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FRI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/week-plan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9748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27340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Methods — intro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9443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32826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Admin +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3558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36941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MCF-7 passage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8130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45m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224028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8152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Methods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24871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27889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081528" y="28254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Dose-response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81528" y="2990087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329184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081528" y="332841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1:1 Ravi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3447287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1800" y="3749039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081528" y="3785615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1:1 prep (Sara)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1528" y="38587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25m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0" y="224028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32180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Results 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8" y="24871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2.5h · TNF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2788920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321808" y="28254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Organoid media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21808" y="308152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3h · Org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80" y="33832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321808" y="3419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Lab meeting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1808" y="353872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1h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12080" y="384048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321808" y="38770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Notes + log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21808" y="395020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20m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2360" y="22402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56208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Methods revise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088" y="24414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52360" y="274320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562088" y="27797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Assay prep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2088" y="29443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1.5h · Org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52360" y="324612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562088" y="32826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1:1 Sara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2088" y="34015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52360" y="370332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562088" y="37398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Reagent order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62088" y="38130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15m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92640" y="22402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80236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Intro polish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02368" y="24414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2640" y="274320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802368" y="27797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MCF-7 passage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02368" y="28986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45m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92640" y="320040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802368" y="32369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/digest + /retro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02368" y="33558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92640" y="365760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802368" y="36941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Plan next week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2368" y="376732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20m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40080" y="5029200"/>
            <a:ext cx="1091153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57200" y="5120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CLAUDE RUNS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MONDAY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/week-plan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Drafts your top-5 for the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week. You edit.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2608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MORNING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8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/standup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2608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Today's 3 tasks, anything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overdue, calendar shape.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MORNING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6636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/standup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6636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Flags anything that slipped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from the day before.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0664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MORNING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0664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/standup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0664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Drafts the 1:1 agenda for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your afternoon meeting.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FRIDAY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4692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/digest + /retro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4692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Summary of what shipped,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notes on what slipped.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97961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19907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Deep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16833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38779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Lab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35705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957651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Light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54577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076523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Meeting / ritual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DAILY TOUCHPOINT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What you see each morning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Two surfaces you'd open first thing: the dashboard (in a browser) and the standup (in Claude chat). Mockups below. Tell us what's missing or extra.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66928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669280" cy="274320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48640" y="1920240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1920240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1920240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1892808"/>
            <a:ext cx="484632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" y="1892808"/>
            <a:ext cx="4663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research-pm.github.io/dashboard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2402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332"/>
                </a:solidFill>
                <a:latin typeface="Calibri"/>
              </a:rPr>
              <a:t>research-pm — Tuesday, Apr 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56032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26060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2D7A7A"/>
                </a:solidFill>
                <a:latin typeface="Calibri"/>
              </a:rPr>
              <a:t>ACTIVE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15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332"/>
                </a:solidFill>
                <a:latin typeface="Calibri"/>
              </a:rPr>
              <a:t>3 /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626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at WIP cap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256032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560320" y="26060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2D7A7A"/>
                </a:solidFill>
                <a:latin typeface="Calibri"/>
              </a:rPr>
              <a:t>WRITING STREAK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2715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332"/>
                </a:solidFill>
                <a:latin typeface="Calibri"/>
              </a:rPr>
              <a:t>12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9626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block held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56032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43400" y="26060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2D7A7A"/>
                </a:solidFill>
                <a:latin typeface="Calibri"/>
              </a:rPr>
              <a:t>OVERDUE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715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332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9626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from Monday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291840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ACTIVE PROJECTS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3995928"/>
            <a:ext cx="5212080" cy="0"/>
          </a:xfrm>
          <a:prstGeom prst="line">
            <a:avLst/>
          </a:prstGeom>
          <a:ln w="6350">
            <a:solidFill>
              <a:srgbClr val="E8E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22376" y="3611880"/>
            <a:ext cx="109728" cy="109728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5478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TNF paper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758184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last · methods draft (2h)    ·    next · figures v3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4480560"/>
            <a:ext cx="5212080" cy="0"/>
          </a:xfrm>
          <a:prstGeom prst="line">
            <a:avLst/>
          </a:prstGeom>
          <a:ln w="6350">
            <a:solidFill>
              <a:srgbClr val="E8E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22376" y="4096512"/>
            <a:ext cx="109728" cy="109728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0325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Organoid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242816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last · media v2 protocol    ·    next · cell type B stable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5800" y="4965192"/>
            <a:ext cx="5212080" cy="0"/>
          </a:xfrm>
          <a:prstGeom prst="line">
            <a:avLst/>
          </a:prstGeom>
          <a:ln w="6350">
            <a:solidFill>
              <a:srgbClr val="E8E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22376" y="4581144"/>
            <a:ext cx="109728" cy="109728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171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R01 renewal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727448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last · Aim 3 outline    ·    next · preliminary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020056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QUARTERLY GOALS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24865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TNF paper  ·  Q2 draft  (OKR)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1880" y="5303520"/>
            <a:ext cx="192024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611880" y="5303520"/>
            <a:ext cx="1286560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577840" y="52486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F0B429"/>
                </a:solidFill>
                <a:latin typeface="Calibri"/>
              </a:rPr>
              <a:t>67%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45896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Organoid  ·  Q2 baseline  (narr.)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11880" y="5513832"/>
            <a:ext cx="192024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611880" y="5513832"/>
            <a:ext cx="768096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77840" y="545896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F0B429"/>
                </a:solidFill>
                <a:latin typeface="Calibri"/>
              </a:rPr>
              <a:t>40%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1828800"/>
            <a:ext cx="5425135" cy="452628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309360" y="1828800"/>
            <a:ext cx="5425135" cy="32004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6419088" y="1915668"/>
            <a:ext cx="146304" cy="146304"/>
          </a:xfrm>
          <a:prstGeom prst="ellipse">
            <a:avLst/>
          </a:prstGeom>
          <a:solidFill>
            <a:srgbClr val="2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1901952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Claude  ·  morning standup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2895" y="19019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6BCBC"/>
                </a:solidFill>
                <a:latin typeface="Calibri"/>
              </a:rPr>
              <a:t>9:02 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60" y="2286000"/>
            <a:ext cx="49679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Good morning — standup for Tuesday, Apr 21.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2606040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TODAY'S 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60" y="2852928"/>
            <a:ext cx="9144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693408" y="28254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onsolas"/>
              </a:rPr>
              <a:t>09:00–11:00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825496"/>
            <a:ext cx="35963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Methods revise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93408" y="3026664"/>
            <a:ext cx="48124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2D7A7A"/>
                </a:solidFill>
                <a:latin typeface="Calibri"/>
              </a:rPr>
              <a:t>TNF paper  ›  Methods drafted  ›  Q2 draft complete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3273552"/>
            <a:ext cx="91440" cy="2011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693408" y="324612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onsolas"/>
              </a:rPr>
              <a:t>14:00–16:00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3246120"/>
            <a:ext cx="35963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Media protocol v2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3447288"/>
            <a:ext cx="48124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2D7A7A"/>
                </a:solidFill>
                <a:latin typeface="Calibri"/>
              </a:rPr>
              <a:t>Organoid  ›  Media v2  ›  Q2 baseline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60" y="3694176"/>
            <a:ext cx="91440" cy="2011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693408" y="3666744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onsolas"/>
              </a:rPr>
              <a:t>16:15–17:00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3666744"/>
            <a:ext cx="35963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1:1 with Sara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3408" y="3867912"/>
            <a:ext cx="48124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2D7A7A"/>
                </a:solidFill>
                <a:latin typeface="Calibri"/>
              </a:rPr>
              <a:t>People  ›  Sara owes 2  ›  4-week cadence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4133088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C2626"/>
                </a:solidFill>
                <a:latin typeface="Calibri"/>
              </a:rPr>
              <a:t>OVERDUE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29400" y="4334256"/>
            <a:ext cx="48764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Figure 4 v1 (TNF) — due Monday. Re-slot, or push?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37960" y="4608576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CALENDAR SHAPE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29400" y="4809744"/>
            <a:ext cx="48764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3h Deep morning  ·  2h Lab afternoon  ·  1 meeting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7960" y="5084064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0B429"/>
                </a:solidFill>
                <a:latin typeface="Calibri"/>
              </a:rPr>
              <a:t>HEADS UP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29400" y="5285232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Writing block skipped twice this week. Organoid log silent 4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GOAL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How goals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3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Year goals break into quarters, then projects, then weeks, then days. Quarterly goals come in two styles: OKR (Objective + measurable Key Results) for tight-clock work; narrative (status + paragraph) for exploratory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QUARTER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377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18288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377440" y="19019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1AFAF"/>
                </a:solidFill>
                <a:latin typeface="Calibri"/>
              </a:rPr>
              <a:t>YEAR GOAL · OKR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1214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Publish TNF paper (Cell Reports, Oct 2026)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8288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75120" y="19019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1AFAF"/>
                </a:solidFill>
                <a:latin typeface="Calibri"/>
              </a:rPr>
              <a:t>YEAR GOAL · NARRATIVE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214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Establish organoid model — 2 cell types, protocol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2468880"/>
            <a:ext cx="0" cy="18288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2468880"/>
            <a:ext cx="0" cy="18288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94560" y="265176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377440" y="27249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Q2 — Draft complete  (OKR)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0175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Key Result 1 — Methods drafted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063240"/>
            <a:ext cx="128016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114800" y="3063240"/>
            <a:ext cx="1280160" cy="91440"/>
          </a:xfrm>
          <a:prstGeom prst="rect">
            <a:avLst/>
          </a:prstGeom>
          <a:solidFill>
            <a:srgbClr val="2DA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212080" y="30175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2DA74A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20954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Key Result 2 — Figures v3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255264"/>
            <a:ext cx="128016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114800" y="3255264"/>
            <a:ext cx="857707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212080" y="320954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0B429"/>
                </a:solidFill>
                <a:latin typeface="Calibri"/>
              </a:rPr>
              <a:t>67%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40156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Key Result 3 — Co-author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447288"/>
            <a:ext cx="128016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212080" y="340156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265176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75120" y="27249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Q2 — Baseline working  (narrative)</a:t>
            </a:r>
          </a:p>
        </p:txBody>
      </p:sp>
      <p:sp>
        <p:nvSpPr>
          <p:cNvPr id="38" name="Oval 37"/>
          <p:cNvSpPr/>
          <p:nvPr/>
        </p:nvSpPr>
        <p:spPr>
          <a:xfrm>
            <a:off x="9564624" y="2770632"/>
            <a:ext cx="164592" cy="164592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03580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Media reliably reproducible. 2nd cell type has recurring contamination — root cause traced to shared incubator. Next: isolate. Status: on track.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931920" y="3611880"/>
            <a:ext cx="0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29600" y="3611880"/>
            <a:ext cx="0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194560" y="370332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377440" y="37764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CHECKPOINTS  ·  each has a Definition of Done</a:t>
            </a:r>
          </a:p>
        </p:txBody>
      </p:sp>
      <p:sp>
        <p:nvSpPr>
          <p:cNvPr id="44" name="Oval 43"/>
          <p:cNvSpPr/>
          <p:nvPr/>
        </p:nvSpPr>
        <p:spPr>
          <a:xfrm>
            <a:off x="2423160" y="4023360"/>
            <a:ext cx="91440" cy="9144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39959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Methods drafted</a:t>
            </a:r>
          </a:p>
        </p:txBody>
      </p:sp>
      <p:sp>
        <p:nvSpPr>
          <p:cNvPr id="46" name="Oval 45"/>
          <p:cNvSpPr/>
          <p:nvPr/>
        </p:nvSpPr>
        <p:spPr>
          <a:xfrm>
            <a:off x="2423160" y="4178808"/>
            <a:ext cx="91440" cy="9144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4151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Results drafted</a:t>
            </a:r>
          </a:p>
        </p:txBody>
      </p:sp>
      <p:sp>
        <p:nvSpPr>
          <p:cNvPr id="48" name="Oval 47"/>
          <p:cNvSpPr/>
          <p:nvPr/>
        </p:nvSpPr>
        <p:spPr>
          <a:xfrm>
            <a:off x="2423160" y="4334256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430682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Figures v3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370332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675120" y="37764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CHECKPOINTS  ·  each has a Definition of Done</a:t>
            </a:r>
          </a:p>
        </p:txBody>
      </p:sp>
      <p:sp>
        <p:nvSpPr>
          <p:cNvPr id="52" name="Oval 51"/>
          <p:cNvSpPr/>
          <p:nvPr/>
        </p:nvSpPr>
        <p:spPr>
          <a:xfrm>
            <a:off x="6720840" y="4023360"/>
            <a:ext cx="91440" cy="9144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03720" y="39959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Media protocol v2</a:t>
            </a:r>
          </a:p>
        </p:txBody>
      </p:sp>
      <p:sp>
        <p:nvSpPr>
          <p:cNvPr id="54" name="Oval 53"/>
          <p:cNvSpPr/>
          <p:nvPr/>
        </p:nvSpPr>
        <p:spPr>
          <a:xfrm>
            <a:off x="6720840" y="4178808"/>
            <a:ext cx="91440" cy="9144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4151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Cell type B stable</a:t>
            </a:r>
          </a:p>
        </p:txBody>
      </p:sp>
      <p:sp>
        <p:nvSpPr>
          <p:cNvPr id="56" name="Oval 55"/>
          <p:cNvSpPr/>
          <p:nvPr/>
        </p:nvSpPr>
        <p:spPr>
          <a:xfrm>
            <a:off x="6720840" y="4334256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430682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Doubling time char.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931920" y="4480560"/>
            <a:ext cx="1432864" cy="3200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827824" y="4480560"/>
            <a:ext cx="1401776" cy="3200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124504" y="480060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307384" y="4873752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C0D7D7"/>
                </a:solidFill>
                <a:latin typeface="Calibri"/>
              </a:rPr>
              <a:t>WEEKLY TOP-5  ·  max 1–2 per project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07384" y="5120640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 · Methods revise (TNF)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664" y="5120640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2 · Figure 4 v1 (TNF)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5944" y="5120640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3 · Media protocol v2 (Organoid)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07384" y="5321807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4 · 1:1 Sara (postdoc)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664" y="5321807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5 · R01 Aim 3 data outline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096304" y="5486400"/>
            <a:ext cx="0" cy="164592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581704" y="5650992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764584" y="572414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1AFAF"/>
                </a:solidFill>
                <a:latin typeface="Calibri"/>
              </a:rPr>
              <a:t>TODAY'S 3  ·  slotted into calendar blocks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64584" y="5943600"/>
            <a:ext cx="10972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929176" y="5925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09:00–11:00  Methods revise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19064" y="5943600"/>
            <a:ext cx="109728" cy="182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483656" y="5925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14:00–16:00  Media protocol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73544" y="5943600"/>
            <a:ext cx="109728" cy="1828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038136" y="5925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16:15–17:00  1:1 Sara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VISUALISE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One data source, two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4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All views come from the same markdown files. The Gantt (top) shows a project across months. The Plan Board (bottom) shows this week's calendar blocks. Move something in one view, the other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PROJECT GANTT · TNF paper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47672"/>
            <a:ext cx="11274552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1737360.0" y="2286000"/>
            <a:ext cx="0.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7360" y="2057400"/>
            <a:ext cx="3270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07864.0" y="2286000"/>
            <a:ext cx="0.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07864" y="2057400"/>
            <a:ext cx="3270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78368.0" y="2286000"/>
            <a:ext cx="0.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78368" y="2057400"/>
            <a:ext cx="3270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48872" y="2286000"/>
            <a:ext cx="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4886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2433828"/>
            <a:ext cx="1509463" cy="329184"/>
          </a:xfrm>
          <a:prstGeom prst="roundRect">
            <a:avLst>
              <a:gd name="adj" fmla="val 8000"/>
            </a:avLst>
          </a:prstGeom>
          <a:solidFill>
            <a:srgbClr val="9CB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810512" y="2488692"/>
            <a:ext cx="13631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Intro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823" y="2433828"/>
            <a:ext cx="3234564" cy="32918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19975" y="2488692"/>
            <a:ext cx="3088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1924" y="2433828"/>
            <a:ext cx="4851846" cy="329184"/>
          </a:xfrm>
          <a:prstGeom prst="roundRect">
            <a:avLst>
              <a:gd name="adj" fmla="val 8000"/>
            </a:avLst>
          </a:prstGeom>
          <a:solidFill>
            <a:srgbClr val="5B8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45076" y="2488692"/>
            <a:ext cx="47055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9206" y="2433828"/>
            <a:ext cx="6684766" cy="32918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62358" y="2488692"/>
            <a:ext cx="6538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Figures v3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1135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3340"/>
                </a:solidFill>
                <a:latin typeface="Calibri"/>
              </a:rPr>
              <a:t>Lab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2910840.0"/>
            <a:ext cx="11183112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893736" y="3058668"/>
            <a:ext cx="4851846" cy="329184"/>
          </a:xfrm>
          <a:prstGeom prst="roundRect">
            <a:avLst>
              <a:gd name="adj" fmla="val 8000"/>
            </a:avLst>
          </a:prstGeom>
          <a:solidFill>
            <a:srgbClr val="A88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966888" y="3113532"/>
            <a:ext cx="47055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Dose-response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9206" y="3058668"/>
            <a:ext cx="6469128" cy="329184"/>
          </a:xfrm>
          <a:prstGeom prst="roundRect">
            <a:avLst>
              <a:gd name="adj" fmla="val 8000"/>
            </a:avLst>
          </a:prstGeom>
          <a:solidFill>
            <a:srgbClr val="A88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62358" y="3113532"/>
            <a:ext cx="6322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Replicate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73837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3340"/>
                </a:solidFill>
                <a:latin typeface="Calibri"/>
              </a:rPr>
              <a:t>Collab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3535680.0"/>
            <a:ext cx="11183112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iamond 35"/>
          <p:cNvSpPr/>
          <p:nvPr/>
        </p:nvSpPr>
        <p:spPr>
          <a:xfrm>
            <a:off x="9766997" y="3683508"/>
            <a:ext cx="329184" cy="329184"/>
          </a:xfrm>
          <a:prstGeom prst="diamond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60189" y="373837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Co-author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480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PLAN BOARD · week of Apr 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690872"/>
            <a:ext cx="11274552" cy="1618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34440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MON 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06470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TUE 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8500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WED 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0531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THU 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2561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FRI 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0292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09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34440" y="51206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94360" y="5257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234440" y="53492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4360" y="5486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34440" y="55778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94360" y="57150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234440" y="58064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94360" y="59436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34440" y="60350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34440.0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306470.4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378500.8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50531.199999999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522561.6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594592.0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280160" y="5029200"/>
            <a:ext cx="1980590" cy="3429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335024" y="5074920"/>
            <a:ext cx="1870862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80160" y="5600700"/>
            <a:ext cx="1980590" cy="17145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335024" y="5646420"/>
            <a:ext cx="1870862" cy="80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52190" y="5029200"/>
            <a:ext cx="1980590" cy="3429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407054" y="5074920"/>
            <a:ext cx="1870862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52190" y="5543550"/>
            <a:ext cx="198059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407054" y="5589270"/>
            <a:ext cx="1870862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Dose-resp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352190" y="59436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407054" y="59893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Ravi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24220" y="5029200"/>
            <a:ext cx="1980590" cy="3657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5479084" y="5074920"/>
            <a:ext cx="18708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24220" y="5543550"/>
            <a:ext cx="1980590" cy="3429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5479084" y="5589270"/>
            <a:ext cx="1870862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24220" y="5943600"/>
            <a:ext cx="1980590" cy="17145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5479084" y="5989320"/>
            <a:ext cx="1870862" cy="80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Lab mtg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96251" y="5029200"/>
            <a:ext cx="198059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551115" y="5074920"/>
            <a:ext cx="18708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96251" y="5543550"/>
            <a:ext cx="1980590" cy="25146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551115" y="5589270"/>
            <a:ext cx="1870862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Assay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96251" y="59436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551115" y="59893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Sara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68281" y="5029200"/>
            <a:ext cx="198059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9623145" y="5074920"/>
            <a:ext cx="18708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Polish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568281" y="56007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623145" y="56464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Passage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568281" y="59436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9623145" y="59893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/digest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4342485.6" y="2763012.0"/>
            <a:ext cx="521619.7846153844" cy="2266188.0"/>
          </a:xfrm>
          <a:prstGeom prst="line">
            <a:avLst/>
          </a:prstGeom>
          <a:ln w="19050">
            <a:solidFill>
              <a:srgbClr val="2D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726945" y="378637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same markdown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MODIFY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Moving things around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5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Drag the bar on the Gantt, or tell Claude in chat. Either way, every downstream block shifts — and you see the impact before anything saves. ("Cascade" = the knock-on effect.)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93392"/>
            <a:ext cx="539496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1371600.0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57081.2903225804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06877.419354839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60201.290322581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09997.419354839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17320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801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5921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89238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669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444102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6877" y="2706624"/>
            <a:ext cx="1153323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61741" y="2724912"/>
            <a:ext cx="10435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Figures 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38328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Collab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09997" y="3346704"/>
            <a:ext cx="67842" cy="256032"/>
          </a:xfrm>
          <a:prstGeom prst="roundRect">
            <a:avLst>
              <a:gd name="adj" fmla="val 8000"/>
            </a:avLst>
          </a:prstGeom>
          <a:solidFill>
            <a:srgbClr val="F0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39535" y="1783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AFTER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9535" y="1993392"/>
            <a:ext cx="539496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7253935.0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39416.29032258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89212.41935484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442536.290322581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392332.41935484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99655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136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256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53935" y="2706624"/>
            <a:ext cx="1017638" cy="256032"/>
          </a:xfrm>
          <a:prstGeom prst="rect">
            <a:avLst/>
          </a:prstGeom>
          <a:noFill/>
          <a:ln w="12700">
            <a:solidFill>
              <a:srgbClr val="92B1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271573" y="2706624"/>
            <a:ext cx="1017638" cy="256032"/>
          </a:xfrm>
          <a:prstGeom prst="rect">
            <a:avLst/>
          </a:prstGeom>
          <a:noFill/>
          <a:ln w="12700">
            <a:solidFill>
              <a:srgbClr val="92B1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9289212" y="2706624"/>
            <a:ext cx="1153323" cy="256032"/>
          </a:xfrm>
          <a:prstGeom prst="rect">
            <a:avLst/>
          </a:prstGeom>
          <a:noFill/>
          <a:ln w="12700">
            <a:solidFill>
              <a:srgbClr val="92B1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68135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8833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83697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8135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46471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801335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8135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4110" y="2706624"/>
            <a:ext cx="1153323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818974" y="2724912"/>
            <a:ext cx="10435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Figures v3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8135" y="338328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Collab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92332" y="3346704"/>
            <a:ext cx="67842" cy="256032"/>
          </a:xfrm>
          <a:prstGeom prst="roundRect">
            <a:avLst>
              <a:gd name="adj" fmla="val 8000"/>
            </a:avLst>
          </a:prstGeom>
          <a:solidFill>
            <a:srgbClr val="F0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457200" y="4069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EAF1F1"/>
          </a:solidFill>
          <a:ln w="9525">
            <a:solidFill>
              <a:srgbClr val="2D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85800" y="4160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DRAG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389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Grab the Methods bar, drop it a week later on the Gantt or Plan Board.</a:t>
            </a:r>
          </a:p>
        </p:txBody>
      </p:sp>
      <p:sp>
        <p:nvSpPr>
          <p:cNvPr id="58" name="Oval 57"/>
          <p:cNvSpPr/>
          <p:nvPr/>
        </p:nvSpPr>
        <p:spPr>
          <a:xfrm>
            <a:off x="5943600" y="4206240"/>
            <a:ext cx="457200" cy="457200"/>
          </a:xfrm>
          <a:prstGeom prst="ellipse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0" y="4315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39535" y="4069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EAF1F1"/>
          </a:solidFill>
          <a:ln w="9525">
            <a:solidFill>
              <a:srgbClr val="2D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568135" y="4160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SAY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8135" y="4389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B3340"/>
                </a:solidFill>
                <a:latin typeface="Consolas"/>
              </a:rPr>
              <a:t>“slip TNF methods by a week” in Claude chat.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937760"/>
            <a:ext cx="6858000" cy="9601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31520" y="5029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1AFAF"/>
                </a:solidFill>
                <a:latin typeface="Calibri"/>
              </a:rPr>
              <a:t>IMPACT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530352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Q2 Objective</a:t>
            </a:r>
          </a:p>
        </p:txBody>
      </p:sp>
      <p:sp>
        <p:nvSpPr>
          <p:cNvPr id="66" name="Oval 65"/>
          <p:cNvSpPr/>
          <p:nvPr/>
        </p:nvSpPr>
        <p:spPr>
          <a:xfrm>
            <a:off x="2679192" y="5330952"/>
            <a:ext cx="128016" cy="128016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52928" y="529437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68" name="Oval 67"/>
          <p:cNvSpPr/>
          <p:nvPr/>
        </p:nvSpPr>
        <p:spPr>
          <a:xfrm>
            <a:off x="3090672" y="5330952"/>
            <a:ext cx="128016" cy="128016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0" y="53035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BC9C9"/>
                </a:solidFill>
                <a:latin typeface="Calibri"/>
              </a:rPr>
              <a:t>on track → watch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5046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Year goal</a:t>
            </a:r>
          </a:p>
        </p:txBody>
      </p:sp>
      <p:sp>
        <p:nvSpPr>
          <p:cNvPr id="71" name="Oval 70"/>
          <p:cNvSpPr/>
          <p:nvPr/>
        </p:nvSpPr>
        <p:spPr>
          <a:xfrm>
            <a:off x="2679192" y="5532120"/>
            <a:ext cx="128016" cy="128016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0" y="550468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BC9C9"/>
                </a:solidFill>
                <a:latin typeface="Calibri"/>
              </a:rPr>
              <a:t>on track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57058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Buffer on Figures v3</a:t>
            </a:r>
          </a:p>
        </p:txBody>
      </p:sp>
      <p:sp>
        <p:nvSpPr>
          <p:cNvPr id="74" name="Oval 73"/>
          <p:cNvSpPr/>
          <p:nvPr/>
        </p:nvSpPr>
        <p:spPr>
          <a:xfrm>
            <a:off x="2679192" y="5733288"/>
            <a:ext cx="128016" cy="128016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0" y="570585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BC9C9"/>
                </a:solidFill>
                <a:latin typeface="Calibri"/>
              </a:rPr>
              <a:t>2 days remaining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98080" y="4937760"/>
            <a:ext cx="4236415" cy="28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DA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7635240" y="4991100"/>
            <a:ext cx="182880" cy="18288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01000" y="4974336"/>
            <a:ext cx="3596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Compress downstream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1000" y="5193792"/>
            <a:ext cx="3596335" cy="15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Tighten the next blocks to hit original date.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98080" y="5273040"/>
            <a:ext cx="4236415" cy="28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7635240" y="5326380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01000" y="5309616"/>
            <a:ext cx="3596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Accept the slip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01000" y="5529072"/>
            <a:ext cx="3596335" cy="15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Push Figures v3 deadline; Co-author review stays.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498080" y="5608320"/>
            <a:ext cx="4236415" cy="28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7635240" y="5661660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01000" y="5644896"/>
            <a:ext cx="3596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Cut scope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01000" y="5864352"/>
            <a:ext cx="3596335" cy="15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Drop 1 figure; stay on original timeline.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Four things the tool produces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6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 project page, a 1:1 agenda draft, a weekly report for a collaborator, and a time-estimate prompt. All come from the same markdown files. Mockups below.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501487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35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ARTIFACT · PROJECTS/TNF-PAPER.MD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2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Project page — TNF 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95728"/>
            <a:ext cx="5044287" cy="71323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450592"/>
            <a:ext cx="486140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status: 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06040"/>
            <a:ext cx="486140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goal_model: okr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61488"/>
            <a:ext cx="486140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deadline: 2026-10-31 (Cell Reports)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16936"/>
            <a:ext cx="486140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collaborators: Prof Smith, Ravi (postdoc)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18688"/>
            <a:ext cx="5044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onsolas"/>
              </a:rPr>
              <a:t>## Checkpoints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3493008"/>
            <a:ext cx="91440" cy="9144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4564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2332"/>
                </a:solidFill>
                <a:latin typeface="Calibri"/>
              </a:rPr>
              <a:t>Methods drafted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45643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Apr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456432"/>
            <a:ext cx="25754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DoD: 2000 words, cites done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3694176"/>
            <a:ext cx="91440" cy="9144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6576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2332"/>
                </a:solidFill>
                <a:latin typeface="Calibri"/>
              </a:rPr>
              <a:t>Results drafted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65760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May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657600"/>
            <a:ext cx="25754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DoD: numbers + structure</a:t>
            </a:r>
          </a:p>
        </p:txBody>
      </p:sp>
      <p:sp>
        <p:nvSpPr>
          <p:cNvPr id="27" name="Oval 26"/>
          <p:cNvSpPr/>
          <p:nvPr/>
        </p:nvSpPr>
        <p:spPr>
          <a:xfrm>
            <a:off x="713232" y="3895344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85876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2332"/>
                </a:solidFill>
                <a:latin typeface="Calibri"/>
              </a:rPr>
              <a:t>Figures 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85876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May 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3858768"/>
            <a:ext cx="25754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DoD: 6 of 6 finalised</a:t>
            </a:r>
          </a:p>
        </p:txBody>
      </p:sp>
      <p:sp>
        <p:nvSpPr>
          <p:cNvPr id="31" name="Oval 30"/>
          <p:cNvSpPr/>
          <p:nvPr/>
        </p:nvSpPr>
        <p:spPr>
          <a:xfrm>
            <a:off x="713232" y="4096512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05993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2332"/>
                </a:solidFill>
                <a:latin typeface="Calibri"/>
              </a:rPr>
              <a:t>Co-author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05993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Jun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059936"/>
            <a:ext cx="25754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DoD: all replies incorporated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1828800"/>
            <a:ext cx="5501487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5887" y="1920240"/>
            <a:ext cx="5135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ARTIFACT · /ONE-ON-ONE SARA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887" y="2084832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1:1 agenda draft — Sara (postdoc) · Apr 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1607" y="2395728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She owes me  (2)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8767" y="2578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Organoid protocol v2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0567" y="2578608"/>
            <a:ext cx="19353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Consolas"/>
              </a:rPr>
              <a:t>committed Apr 8 · due Apr 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8767" y="275234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Figure 4 first draft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0567" y="2752344"/>
            <a:ext cx="19353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Consolas"/>
              </a:rPr>
              <a:t>committed Apr 14 · due Apr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1607" y="2971800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I owe her  (1)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3154680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Feedback on cell type B results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0567" y="3154680"/>
            <a:ext cx="19353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Consolas"/>
              </a:rPr>
              <a:t>due Apr 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1607" y="3374136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Recent progress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98767" y="355701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Media v2 reliable across 6 passages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8767" y="3730752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Cell type B contamination — root cause traced to incubator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1607" y="3950208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Open blockers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8767" y="413308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Antibody reorder pending — ETA Apr 28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229100"/>
            <a:ext cx="5501487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0080" y="4320540"/>
            <a:ext cx="5135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ARTIFACT · /REPORT TNF FOR PROF-SMITH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485132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Weekly report — TNF paper · for Prof Smith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4796028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Week of Apr 14 — Apr 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006340"/>
            <a:ext cx="5044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Progress this week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20750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✓  Methods section drafted (2000 words)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39038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✓  Figures 1–3 finalised at v3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557326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✓  Replicate run matches primary data within 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29300"/>
            <a:ext cx="5044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Next week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603046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→  Results section drafting (target: Fri)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621334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→  Figures 4–6 first pass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6451092"/>
            <a:ext cx="5044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0B429"/>
                </a:solidFill>
                <a:latin typeface="Calibri"/>
              </a:rPr>
              <a:t>Your input needed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665226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Methods section comments before Results starts?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Cell Reports 6-panel figure limit — stick to it?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85800" y="7054596.0"/>
            <a:ext cx="5044287.5" cy="0.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85800" y="7127748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onsolas"/>
              </a:rPr>
              <a:t>Saved to exports/  ·  .md  ·  .email.md  ·  .slides.md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33007" y="4229100"/>
            <a:ext cx="5501487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415887" y="4320540"/>
            <a:ext cx="5135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PROMPT · DURATION LEARNING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15887" y="4485132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How long does this take? (learned from history)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61607" y="4869180"/>
            <a:ext cx="5044287" cy="1051560"/>
          </a:xfrm>
          <a:prstGeom prst="roundRect">
            <a:avLst>
              <a:gd name="adj" fmla="val 8000"/>
            </a:avLst>
          </a:prstGeom>
          <a:solidFill>
            <a:srgbClr val="EEF4F4"/>
          </a:solidFill>
          <a:ln w="6350">
            <a:solidFill>
              <a:srgbClr val="2D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6571335" y="4978908"/>
            <a:ext cx="146304" cy="146304"/>
          </a:xfrm>
          <a:prstGeom prst="ellipse">
            <a:avLst/>
          </a:prstGeom>
          <a:solidFill>
            <a:srgbClr val="2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27367" y="49606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Claude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0207" y="5161788"/>
            <a:ext cx="45870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2B3340"/>
                </a:solidFill>
                <a:latin typeface="Calibri"/>
              </a:rPr>
              <a:t>Based on your last 8 figure drafts (median 2h 20m), I’ll block 2.5h tomorrow 09:00–11:30 in your protected writing block.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2B334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2B3340"/>
                </a:solidFill>
                <a:latin typeface="Calibri"/>
              </a:rPr>
              <a:t>Confirm, or give a different length.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11335" y="6057900"/>
            <a:ext cx="2194560" cy="34747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494215" y="61310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onsolas"/>
              </a:rPr>
              <a:t>yes — confirm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61607" y="6542532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Underlying data  ·  meta/task-history.json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61607" y="6725412"/>
            <a:ext cx="50442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figure_draft: { median_min: 140, p90_min: 210, n: 8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Try the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7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Click through the actual pages the deck has been showing. Everything is editable in your browser. Nothing you do here touches a real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11274552" cy="9601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1AFAF"/>
                </a:solidFill>
                <a:latin typeface="Calibri"/>
              </a:rPr>
              <a:t>OPEN ON PHONE OR LAPTOP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onsolas"/>
              </a:rPr>
              <a:t>https://sayujr.github.io/Research-Projects-PM/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10725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1AFAF"/>
                </a:solidFill>
                <a:latin typeface="Calibri"/>
              </a:rPr>
              <a:t>Hosted on GitHub Pages from the same repo. Auto-rebuilds on every commit.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5501487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495284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WHAT TO TRY IN THE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Each page is live and editable in your browser.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3849624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1304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Plan 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813048"/>
            <a:ext cx="3306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B3340"/>
                </a:solidFill>
                <a:latin typeface="Calibri"/>
              </a:rPr>
              <a:t>Drag “Methods revise” to a different day. See the cascade preview before saving.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4233672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1970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Project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197096"/>
            <a:ext cx="3306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B3340"/>
                </a:solidFill>
                <a:latin typeface="Calibri"/>
              </a:rPr>
              <a:t>Click any text to edit. Add a checkpoint. Move KR sliders. Log a win.</a:t>
            </a:r>
          </a:p>
        </p:txBody>
      </p:sp>
      <p:sp>
        <p:nvSpPr>
          <p:cNvPr id="23" name="Oval 22"/>
          <p:cNvSpPr/>
          <p:nvPr/>
        </p:nvSpPr>
        <p:spPr>
          <a:xfrm>
            <a:off x="749808" y="4617720"/>
            <a:ext cx="146304" cy="14630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8114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581144"/>
            <a:ext cx="3306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B3340"/>
                </a:solidFill>
                <a:latin typeface="Calibri"/>
              </a:rPr>
              <a:t>Add items to “Sara owes me.” The 1:1 agenda rebuilds live.</a:t>
            </a:r>
          </a:p>
        </p:txBody>
      </p:sp>
      <p:sp>
        <p:nvSpPr>
          <p:cNvPr id="26" name="Oval 25"/>
          <p:cNvSpPr/>
          <p:nvPr/>
        </p:nvSpPr>
        <p:spPr>
          <a:xfrm>
            <a:off x="749808" y="5001768"/>
            <a:ext cx="146304" cy="146304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96519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965192"/>
            <a:ext cx="3306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B3340"/>
                </a:solidFill>
                <a:latin typeface="Calibri"/>
              </a:rPr>
              <a:t>Pick a project and audience. Toggle preview / markdown / email. Print to PDF.</a:t>
            </a:r>
          </a:p>
        </p:txBody>
      </p:sp>
      <p:sp>
        <p:nvSpPr>
          <p:cNvPr id="29" name="Oval 28"/>
          <p:cNvSpPr/>
          <p:nvPr/>
        </p:nvSpPr>
        <p:spPr>
          <a:xfrm>
            <a:off x="749808" y="5385816"/>
            <a:ext cx="146304" cy="146304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3492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Gantt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349240"/>
            <a:ext cx="33069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B3340"/>
                </a:solidFill>
                <a:latin typeface="Calibri"/>
              </a:rPr>
              <a:t>Click a bar. Switch between projects.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3007" y="3017520"/>
            <a:ext cx="5501487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07327" y="3200400"/>
            <a:ext cx="495284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TO SET UP ON YOUR LAPTOP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7327" y="342900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One paste. Claude does the rest.</a:t>
            </a:r>
          </a:p>
        </p:txBody>
      </p:sp>
      <p:sp>
        <p:nvSpPr>
          <p:cNvPr id="35" name="Oval 34"/>
          <p:cNvSpPr/>
          <p:nvPr/>
        </p:nvSpPr>
        <p:spPr>
          <a:xfrm>
            <a:off x="6452463" y="3831336"/>
            <a:ext cx="292608" cy="292608"/>
          </a:xfrm>
          <a:prstGeom prst="ellipse">
            <a:avLst/>
          </a:prstGeom>
          <a:solidFill>
            <a:srgbClr val="2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2463" y="3867912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4527" y="3813048"/>
            <a:ext cx="45870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Install Claude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4527" y="4014216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claude.ai/code  (free)</a:t>
            </a:r>
          </a:p>
        </p:txBody>
      </p:sp>
      <p:sp>
        <p:nvSpPr>
          <p:cNvPr id="39" name="Oval 38"/>
          <p:cNvSpPr/>
          <p:nvPr/>
        </p:nvSpPr>
        <p:spPr>
          <a:xfrm>
            <a:off x="6452463" y="4352543"/>
            <a:ext cx="292608" cy="292608"/>
          </a:xfrm>
          <a:prstGeom prst="ellipse">
            <a:avLst/>
          </a:prstGeom>
          <a:solidFill>
            <a:srgbClr val="2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2463" y="4389119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4527" y="4334255"/>
            <a:ext cx="45870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Open any terminal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4527" y="4535423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onsolas"/>
              </a:rPr>
              <a:t>run:   claude</a:t>
            </a:r>
          </a:p>
        </p:txBody>
      </p:sp>
      <p:sp>
        <p:nvSpPr>
          <p:cNvPr id="43" name="Oval 42"/>
          <p:cNvSpPr/>
          <p:nvPr/>
        </p:nvSpPr>
        <p:spPr>
          <a:xfrm>
            <a:off x="6452463" y="4873750"/>
            <a:ext cx="292608" cy="292608"/>
          </a:xfrm>
          <a:prstGeom prst="ellipse">
            <a:avLst/>
          </a:prstGeom>
          <a:solidFill>
            <a:srgbClr val="2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2463" y="4910326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4527" y="4855462"/>
            <a:ext cx="45870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Paste the setup prompt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4527" y="5056630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→ research-pm.../setup.html</a:t>
            </a:r>
          </a:p>
        </p:txBody>
      </p:sp>
      <p:sp>
        <p:nvSpPr>
          <p:cNvPr id="47" name="Oval 46"/>
          <p:cNvSpPr/>
          <p:nvPr/>
        </p:nvSpPr>
        <p:spPr>
          <a:xfrm>
            <a:off x="6452463" y="5394957"/>
            <a:ext cx="292608" cy="292608"/>
          </a:xfrm>
          <a:prstGeom prst="ellipse">
            <a:avLst/>
          </a:prstGeom>
          <a:solidFill>
            <a:srgbClr val="2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2463" y="5431533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4527" y="5376669"/>
            <a:ext cx="45870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Have a 5-min onboarding chat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4527" y="5577837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stage 1 of 8 — role + year goals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